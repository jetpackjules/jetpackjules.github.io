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Source Code Pro"/>
      <p:regular r:id="rId14"/>
      <p:bold r:id="rId15"/>
      <p:italic r:id="rId16"/>
      <p:boldItalic r:id="rId17"/>
    </p:embeddedFont>
    <p:embeddedFont>
      <p:font typeface="Oswal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SourceCodePro-bold.fntdata"/><Relationship Id="rId14" Type="http://schemas.openxmlformats.org/officeDocument/2006/relationships/font" Target="fonts/SourceCodePro-regular.fntdata"/><Relationship Id="rId17" Type="http://schemas.openxmlformats.org/officeDocument/2006/relationships/font" Target="fonts/SourceCodePro-boldItalic.fntdata"/><Relationship Id="rId16" Type="http://schemas.openxmlformats.org/officeDocument/2006/relationships/font" Target="fonts/SourceCodePro-italic.fntdata"/><Relationship Id="rId5" Type="http://schemas.openxmlformats.org/officeDocument/2006/relationships/notesMaster" Target="notesMasters/notesMaster1.xml"/><Relationship Id="rId19" Type="http://schemas.openxmlformats.org/officeDocument/2006/relationships/font" Target="fonts/Oswald-bold.fntdata"/><Relationship Id="rId6" Type="http://schemas.openxmlformats.org/officeDocument/2006/relationships/slide" Target="slides/slide1.xml"/><Relationship Id="rId18"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43c620924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43c620924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43c620924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43c620924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43c62092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43c620924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43c620924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43c620924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43c620924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43c620924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43c620924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43c620924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43c620924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43c620924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gif"/><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Squash Ball Detector</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lnSpcReduction="10000"/>
          </a:bodyPr>
          <a:lstStyle/>
          <a:p>
            <a:pPr indent="0" lvl="0" marL="0" rtl="0" algn="ctr">
              <a:spcBef>
                <a:spcPts val="0"/>
              </a:spcBef>
              <a:spcAft>
                <a:spcPts val="0"/>
              </a:spcAft>
              <a:buNone/>
            </a:pPr>
            <a:r>
              <a:rPr lang="en"/>
              <a:t>Daniel Shubin, Jules Ropars, Lawrence Tan, Lyle Deng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a:t>
            </a:r>
            <a:endParaRPr/>
          </a:p>
        </p:txBody>
      </p:sp>
      <p:sp>
        <p:nvSpPr>
          <p:cNvPr id="69" name="Google Shape;69;p1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Task: Given an image of a squash court, train a CV model to be able to </a:t>
            </a:r>
            <a:r>
              <a:rPr lang="en"/>
              <a:t>accurately</a:t>
            </a:r>
            <a:r>
              <a:rPr lang="en"/>
              <a:t> predict the location of the ball.</a:t>
            </a:r>
            <a:endParaRPr/>
          </a:p>
          <a:p>
            <a:pPr indent="-342900" lvl="0" marL="457200" rtl="0" algn="l">
              <a:spcBef>
                <a:spcPts val="0"/>
              </a:spcBef>
              <a:spcAft>
                <a:spcPts val="0"/>
              </a:spcAft>
              <a:buSzPts val="1800"/>
              <a:buChar char="-"/>
            </a:pPr>
            <a:r>
              <a:rPr lang="en"/>
              <a:t>Challenge: Unlike other sports, in squash the ball is much smaller (only 40mm diameter) and moves much faster. This, combined with images also containing players moving at high speeds nearby, makes the ball tough to identify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29672"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Dataset (Downloaded from RoboFlow)</a:t>
            </a:r>
            <a:endParaRPr/>
          </a:p>
        </p:txBody>
      </p:sp>
      <p:sp>
        <p:nvSpPr>
          <p:cNvPr id="75" name="Google Shape;75;p15"/>
          <p:cNvSpPr txBox="1"/>
          <p:nvPr>
            <p:ph idx="1" type="body"/>
          </p:nvPr>
        </p:nvSpPr>
        <p:spPr>
          <a:xfrm>
            <a:off x="311700" y="1468825"/>
            <a:ext cx="23154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424 labelled images</a:t>
            </a:r>
            <a:endParaRPr/>
          </a:p>
          <a:p>
            <a:pPr indent="-342900" lvl="0" marL="457200" rtl="0" algn="l">
              <a:spcBef>
                <a:spcPts val="0"/>
              </a:spcBef>
              <a:spcAft>
                <a:spcPts val="0"/>
              </a:spcAft>
              <a:buSzPts val="1800"/>
              <a:buChar char="-"/>
            </a:pPr>
            <a:r>
              <a:rPr lang="en"/>
              <a:t>1+ balls labelled per image</a:t>
            </a:r>
            <a:endParaRPr/>
          </a:p>
          <a:p>
            <a:pPr indent="-342900" lvl="0" marL="457200" rtl="0" algn="l">
              <a:spcBef>
                <a:spcPts val="0"/>
              </a:spcBef>
              <a:spcAft>
                <a:spcPts val="0"/>
              </a:spcAft>
              <a:buSzPts val="1800"/>
              <a:buChar char="-"/>
            </a:pPr>
            <a:r>
              <a:rPr lang="en"/>
              <a:t>Court: wooden ground, white walls</a:t>
            </a:r>
            <a:endParaRPr/>
          </a:p>
        </p:txBody>
      </p:sp>
      <p:pic>
        <p:nvPicPr>
          <p:cNvPr id="76" name="Google Shape;76;p15"/>
          <p:cNvPicPr preferRelativeResize="0"/>
          <p:nvPr/>
        </p:nvPicPr>
        <p:blipFill>
          <a:blip r:embed="rId3">
            <a:alphaModFix/>
          </a:blip>
          <a:stretch>
            <a:fillRect/>
          </a:stretch>
        </p:blipFill>
        <p:spPr>
          <a:xfrm>
            <a:off x="3983850" y="3176922"/>
            <a:ext cx="1701187" cy="1695570"/>
          </a:xfrm>
          <a:prstGeom prst="rect">
            <a:avLst/>
          </a:prstGeom>
          <a:noFill/>
          <a:ln>
            <a:noFill/>
          </a:ln>
        </p:spPr>
      </p:pic>
      <p:pic>
        <p:nvPicPr>
          <p:cNvPr id="77" name="Google Shape;77;p15"/>
          <p:cNvPicPr preferRelativeResize="0"/>
          <p:nvPr/>
        </p:nvPicPr>
        <p:blipFill>
          <a:blip r:embed="rId4">
            <a:alphaModFix/>
          </a:blip>
          <a:stretch>
            <a:fillRect/>
          </a:stretch>
        </p:blipFill>
        <p:spPr>
          <a:xfrm>
            <a:off x="5908625" y="3152534"/>
            <a:ext cx="1701175" cy="1719966"/>
          </a:xfrm>
          <a:prstGeom prst="rect">
            <a:avLst/>
          </a:prstGeom>
          <a:noFill/>
          <a:ln>
            <a:noFill/>
          </a:ln>
        </p:spPr>
      </p:pic>
      <p:pic>
        <p:nvPicPr>
          <p:cNvPr id="78" name="Google Shape;78;p15"/>
          <p:cNvPicPr preferRelativeResize="0"/>
          <p:nvPr/>
        </p:nvPicPr>
        <p:blipFill>
          <a:blip r:embed="rId5">
            <a:alphaModFix/>
          </a:blip>
          <a:stretch>
            <a:fillRect/>
          </a:stretch>
        </p:blipFill>
        <p:spPr>
          <a:xfrm>
            <a:off x="3983850" y="1165063"/>
            <a:ext cx="3693998" cy="1827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Canny Edge Filter</a:t>
            </a:r>
            <a:endParaRPr/>
          </a:p>
        </p:txBody>
      </p:sp>
      <p:sp>
        <p:nvSpPr>
          <p:cNvPr id="84" name="Google Shape;84;p16"/>
          <p:cNvSpPr txBox="1"/>
          <p:nvPr>
            <p:ph idx="1" type="body"/>
          </p:nvPr>
        </p:nvSpPr>
        <p:spPr>
          <a:xfrm>
            <a:off x="311700" y="1468825"/>
            <a:ext cx="28185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Optimize model with Canny Edge Filter</a:t>
            </a:r>
            <a:endParaRPr/>
          </a:p>
          <a:p>
            <a:pPr indent="-342900" lvl="0" marL="457200" rtl="0" algn="l">
              <a:spcBef>
                <a:spcPts val="0"/>
              </a:spcBef>
              <a:spcAft>
                <a:spcPts val="0"/>
              </a:spcAft>
              <a:buSzPts val="1800"/>
              <a:buChar char="-"/>
            </a:pPr>
            <a:r>
              <a:rPr lang="en"/>
              <a:t>Remove “obviously” incorrect edges (i.e. straight lines)</a:t>
            </a:r>
            <a:endParaRPr/>
          </a:p>
        </p:txBody>
      </p:sp>
      <p:pic>
        <p:nvPicPr>
          <p:cNvPr id="85" name="Google Shape;85;p16"/>
          <p:cNvPicPr preferRelativeResize="0"/>
          <p:nvPr/>
        </p:nvPicPr>
        <p:blipFill>
          <a:blip r:embed="rId3">
            <a:alphaModFix/>
          </a:blip>
          <a:stretch>
            <a:fillRect/>
          </a:stretch>
        </p:blipFill>
        <p:spPr>
          <a:xfrm>
            <a:off x="3767625" y="277008"/>
            <a:ext cx="4703000" cy="2384617"/>
          </a:xfrm>
          <a:prstGeom prst="rect">
            <a:avLst/>
          </a:prstGeom>
          <a:noFill/>
          <a:ln>
            <a:noFill/>
          </a:ln>
        </p:spPr>
      </p:pic>
      <p:pic>
        <p:nvPicPr>
          <p:cNvPr id="86" name="Google Shape;86;p16"/>
          <p:cNvPicPr preferRelativeResize="0"/>
          <p:nvPr/>
        </p:nvPicPr>
        <p:blipFill>
          <a:blip r:embed="rId4">
            <a:alphaModFix/>
          </a:blip>
          <a:stretch>
            <a:fillRect/>
          </a:stretch>
        </p:blipFill>
        <p:spPr>
          <a:xfrm>
            <a:off x="3767613" y="2571750"/>
            <a:ext cx="4703000" cy="2384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Model</a:t>
            </a:r>
            <a:endParaRPr/>
          </a:p>
        </p:txBody>
      </p:sp>
      <p:sp>
        <p:nvSpPr>
          <p:cNvPr id="92" name="Google Shape;92;p1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 Used an Encoder-Decoder Model (w/ downsampling, then upsampling)</a:t>
            </a:r>
            <a:endParaRPr/>
          </a:p>
          <a:p>
            <a:pPr indent="0" lvl="0" marL="0" rtl="0" algn="l">
              <a:spcBef>
                <a:spcPts val="1200"/>
              </a:spcBef>
              <a:spcAft>
                <a:spcPts val="0"/>
              </a:spcAft>
              <a:buNone/>
            </a:pPr>
            <a:r>
              <a:rPr lang="en"/>
              <a:t>- Generated a heatmap</a:t>
            </a:r>
            <a:endParaRPr/>
          </a:p>
          <a:p>
            <a:pPr indent="0" lvl="0" marL="0" rtl="0" algn="l">
              <a:spcBef>
                <a:spcPts val="1200"/>
              </a:spcBef>
              <a:spcAft>
                <a:spcPts val="0"/>
              </a:spcAft>
              <a:buNone/>
            </a:pPr>
            <a:r>
              <a:rPr lang="en"/>
              <a:t>- Loss Function: Modified Focal Loss</a:t>
            </a:r>
            <a:endParaRPr/>
          </a:p>
          <a:p>
            <a:pPr indent="0" lvl="0" marL="0" rtl="0" algn="l">
              <a:spcBef>
                <a:spcPts val="1200"/>
              </a:spcBef>
              <a:spcAft>
                <a:spcPts val="0"/>
              </a:spcAft>
              <a:buNone/>
            </a:pPr>
            <a:r>
              <a:rPr lang="en"/>
              <a:t>- Better to predict false positives than false negatives</a:t>
            </a:r>
            <a:endParaRPr/>
          </a:p>
          <a:p>
            <a:pPr indent="0" lvl="0" marL="0" rtl="0" algn="l">
              <a:spcBef>
                <a:spcPts val="1200"/>
              </a:spcBef>
              <a:spcAft>
                <a:spcPts val="1200"/>
              </a:spcAft>
              <a:buNone/>
            </a:pPr>
            <a:r>
              <a:rPr lang="en"/>
              <a:t>- Parameters: Alpha, Beta, Ball Position weight</a:t>
            </a:r>
            <a:endParaRPr/>
          </a:p>
        </p:txBody>
      </p:sp>
      <p:pic>
        <p:nvPicPr>
          <p:cNvPr id="93" name="Google Shape;93;p17"/>
          <p:cNvPicPr preferRelativeResize="0"/>
          <p:nvPr/>
        </p:nvPicPr>
        <p:blipFill>
          <a:blip r:embed="rId3">
            <a:alphaModFix/>
          </a:blip>
          <a:stretch>
            <a:fillRect/>
          </a:stretch>
        </p:blipFill>
        <p:spPr>
          <a:xfrm>
            <a:off x="3371525" y="694028"/>
            <a:ext cx="5528651" cy="1978048"/>
          </a:xfrm>
          <a:prstGeom prst="rect">
            <a:avLst/>
          </a:prstGeom>
          <a:noFill/>
          <a:ln>
            <a:noFill/>
          </a:ln>
        </p:spPr>
      </p:pic>
      <p:pic>
        <p:nvPicPr>
          <p:cNvPr id="94" name="Google Shape;94;p17"/>
          <p:cNvPicPr preferRelativeResize="0"/>
          <p:nvPr/>
        </p:nvPicPr>
        <p:blipFill>
          <a:blip r:embed="rId4">
            <a:alphaModFix/>
          </a:blip>
          <a:stretch>
            <a:fillRect/>
          </a:stretch>
        </p:blipFill>
        <p:spPr>
          <a:xfrm>
            <a:off x="3371525" y="2804000"/>
            <a:ext cx="5528649" cy="1765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Kalman Filter</a:t>
            </a:r>
            <a:endParaRPr/>
          </a:p>
        </p:txBody>
      </p:sp>
      <p:sp>
        <p:nvSpPr>
          <p:cNvPr id="100" name="Google Shape;100;p1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Kalman Filter smooths noisy detections from model</a:t>
            </a:r>
            <a:endParaRPr/>
          </a:p>
          <a:p>
            <a:pPr indent="-342900" lvl="0" marL="457200" rtl="0" algn="l">
              <a:spcBef>
                <a:spcPts val="0"/>
              </a:spcBef>
              <a:spcAft>
                <a:spcPts val="0"/>
              </a:spcAft>
              <a:buSzPts val="1800"/>
              <a:buChar char="-"/>
            </a:pPr>
            <a:r>
              <a:rPr lang="en"/>
              <a:t>Maintains an accurate ball position even when individual frames have poor detections, motion blur, or partial occlusions.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Live Demo</a:t>
            </a:r>
            <a:endParaRPr/>
          </a:p>
        </p:txBody>
      </p:sp>
      <p:pic>
        <p:nvPicPr>
          <p:cNvPr id="106" name="Google Shape;106;p19" title="blended_animation (3).gif"/>
          <p:cNvPicPr preferRelativeResize="0"/>
          <p:nvPr/>
        </p:nvPicPr>
        <p:blipFill>
          <a:blip r:embed="rId3">
            <a:alphaModFix/>
          </a:blip>
          <a:stretch>
            <a:fillRect/>
          </a:stretch>
        </p:blipFill>
        <p:spPr>
          <a:xfrm>
            <a:off x="5169350" y="1764550"/>
            <a:ext cx="3726650" cy="2642575"/>
          </a:xfrm>
          <a:prstGeom prst="rect">
            <a:avLst/>
          </a:prstGeom>
          <a:noFill/>
          <a:ln>
            <a:noFill/>
          </a:ln>
        </p:spPr>
      </p:pic>
      <p:pic>
        <p:nvPicPr>
          <p:cNvPr id="107" name="Google Shape;107;p19" title="ezgif-8040985aca66dfcf.gif"/>
          <p:cNvPicPr preferRelativeResize="0"/>
          <p:nvPr/>
        </p:nvPicPr>
        <p:blipFill>
          <a:blip r:embed="rId4">
            <a:alphaModFix/>
          </a:blip>
          <a:stretch>
            <a:fillRect/>
          </a:stretch>
        </p:blipFill>
        <p:spPr>
          <a:xfrm>
            <a:off x="311700" y="1764550"/>
            <a:ext cx="4697936" cy="2642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Future Steps</a:t>
            </a:r>
            <a:endParaRPr/>
          </a:p>
        </p:txBody>
      </p:sp>
      <p:sp>
        <p:nvSpPr>
          <p:cNvPr id="113" name="Google Shape;113;p2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Train and test on more diverse datasets (different style courts, color balls, camera angles, etc.)</a:t>
            </a:r>
            <a:endParaRPr/>
          </a:p>
          <a:p>
            <a:pPr indent="-342900" lvl="0" marL="457200" rtl="0" algn="l">
              <a:spcBef>
                <a:spcPts val="0"/>
              </a:spcBef>
              <a:spcAft>
                <a:spcPts val="0"/>
              </a:spcAft>
              <a:buSzPts val="1800"/>
              <a:buAutoNum type="arabicPeriod"/>
            </a:pPr>
            <a:r>
              <a:rPr lang="en"/>
              <a:t>Use real-time inference to train a Squash “Referee” -&gt; learn how to track the points tally and combine ball tracker with player identifier to learn to classify obstruction calls</a:t>
            </a:r>
            <a:endParaRPr/>
          </a:p>
          <a:p>
            <a:pPr indent="0" lvl="0" marL="4572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